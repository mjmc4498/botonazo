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Relationship Id="rId4" Type="http://schemas.openxmlformats.org/officeDocument/2006/relationships/image" Target="../media/image10.png"/><Relationship Id="rId5" Type="http://schemas.openxmlformats.org/officeDocument/2006/relationships/image" Target="../media/image14.png"/><Relationship Id="rId6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ogo-5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17320"/>
            <a:ext cx="1143000" cy="1143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2743200"/>
            <a:ext cx="6400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600" b="1">
                <a:solidFill>
                  <a:srgbClr val="F5F5F7"/>
                </a:solidFill>
                <a:latin typeface="Arial"/>
              </a:rPr>
              <a:t>Botonazo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94760"/>
            <a:ext cx="6035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>
                <a:solidFill>
                  <a:srgbClr val="A1A1A6"/>
                </a:solidFill>
                <a:latin typeface="Arial"/>
              </a:rPr>
              <a:t>Tu deck de botones para Chrome, en el celular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893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A1A1A6"/>
                </a:solidFill>
                <a:latin typeface="Arial"/>
              </a:rPr>
              <a:t>Miguel Mogrovejo · Octubre de 2026</a:t>
            </a:r>
          </a:p>
        </p:txBody>
      </p:sp>
      <p:pic>
        <p:nvPicPr>
          <p:cNvPr id="7" name="Picture 6" descr="phone-inicio-marc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0" y="502920"/>
            <a:ext cx="2805279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669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200">
                <a:solidFill>
                  <a:srgbClr val="FF9F0A"/>
                </a:solidFill>
                <a:latin typeface="Arial"/>
              </a:rPr>
              <a:t>EL RETO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7899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F5F5F7"/>
                </a:solidFill>
                <a:latin typeface="Arial"/>
              </a:rPr>
              <a:t>Transmitir y trabajar sin perder el ritmo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57400"/>
            <a:ext cx="2587752" cy="329184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331720"/>
            <a:ext cx="384048" cy="384048"/>
          </a:xfrm>
          <a:prstGeom prst="ellipse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98648"/>
            <a:ext cx="203911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5F5F7"/>
                </a:solidFill>
                <a:latin typeface="Arial"/>
              </a:rPr>
              <a:t>Saltos constantes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11880"/>
            <a:ext cx="2039112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A1A1A6"/>
                </a:solidFill>
                <a:latin typeface="Arial"/>
              </a:rPr>
              <a:t>Cambiar de escena, de pestaña o de ventana interrumpe el directo y la concentración.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10711" y="2057400"/>
            <a:ext cx="2587752" cy="329184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685031" y="2331720"/>
            <a:ext cx="384048" cy="384048"/>
          </a:xfrm>
          <a:prstGeom prst="ellipse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5031" y="2898648"/>
            <a:ext cx="2039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5F5F7"/>
                </a:solidFill>
                <a:latin typeface="Arial"/>
              </a:rPr>
              <a:t>Hardware caro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85031" y="3337560"/>
            <a:ext cx="2039112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A1A1A6"/>
                </a:solidFill>
                <a:latin typeface="Arial"/>
              </a:rPr>
              <a:t>Un deck físico de botones cuesta, ocupa espacio en el escritorio y no siempre está a mano.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2057400"/>
            <a:ext cx="2587752" cy="329184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55664" y="2331720"/>
            <a:ext cx="384048" cy="384048"/>
          </a:xfrm>
          <a:prstGeom prst="ellipse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5664" y="2898648"/>
            <a:ext cx="203911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5F5F7"/>
                </a:solidFill>
                <a:latin typeface="Arial"/>
              </a:rPr>
              <a:t>Atajos que se olvidan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3611880"/>
            <a:ext cx="2039112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A1A1A6"/>
                </a:solidFill>
                <a:latin typeface="Arial"/>
              </a:rPr>
              <a:t>Cada herramienta tiene sus combinaciones; recordarlas todas en vivo es imposible.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51976" y="2057400"/>
            <a:ext cx="2587752" cy="329184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226296" y="2331720"/>
            <a:ext cx="384048" cy="384048"/>
          </a:xfrm>
          <a:prstGeom prst="ellipse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26296" y="2898648"/>
            <a:ext cx="2039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5F5F7"/>
                </a:solidFill>
                <a:latin typeface="Arial"/>
              </a:rPr>
              <a:t>Todo disperso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26296" y="3337560"/>
            <a:ext cx="2039112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A1A1A6"/>
                </a:solidFill>
                <a:latin typeface="Arial"/>
              </a:rPr>
              <a:t>Capturas, grabaciones, OBS, música y mensajes viven en lugares distintos.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669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200">
                <a:solidFill>
                  <a:srgbClr val="FF9F0A"/>
                </a:solidFill>
                <a:latin typeface="Arial"/>
              </a:rPr>
              <a:t>LA SOLUCIÓN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60350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F5F5F7"/>
                </a:solidFill>
                <a:latin typeface="Arial"/>
              </a:rPr>
              <a:t>Tu celular, convertido en un deck de botones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31720"/>
            <a:ext cx="53949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A1A1A6"/>
                </a:solidFill>
                <a:latin typeface="Arial"/>
              </a:rPr>
              <a:t>Una extensión de Chrome y una página web: diseñas tus botones, escaneas un código QR y tu celular controla el navegador con un toque.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3694176"/>
            <a:ext cx="109728" cy="109728"/>
          </a:xfrm>
          <a:prstGeom prst="ellipse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61188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5F5F7"/>
                </a:solidFill>
                <a:latin typeface="Arial"/>
              </a:rPr>
              <a:t>Sin instalar nada en el celular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58768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1A1A6"/>
                </a:solidFill>
                <a:latin typeface="Arial"/>
              </a:rPr>
              <a:t>El QR abre el deck en el navegador; no hay apps ni cuentas.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4407408"/>
            <a:ext cx="109728" cy="109728"/>
          </a:xfrm>
          <a:prstGeom prst="ellipse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325112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5F5F7"/>
                </a:solidFill>
                <a:latin typeface="Arial"/>
              </a:rPr>
              <a:t>Todo en un mismo lugar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57200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1A1A6"/>
                </a:solidFill>
                <a:latin typeface="Arial"/>
              </a:rPr>
              <a:t>Capturas, grabación, OBS, pestañas, multimedia, mensajes y webhooks.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5120640"/>
            <a:ext cx="109728" cy="109728"/>
          </a:xfrm>
          <a:prstGeom prst="ellipse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038344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5F5F7"/>
                </a:solidFill>
                <a:latin typeface="Arial"/>
              </a:rPr>
              <a:t>Directo y cifrado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285231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1A1A6"/>
                </a:solidFill>
                <a:latin typeface="Arial"/>
              </a:rPr>
              <a:t>WebRTC de punto a punto entre tu celular y tu computadora.</a:t>
            </a:r>
          </a:p>
        </p:txBody>
      </p:sp>
      <p:pic>
        <p:nvPicPr>
          <p:cNvPr id="15" name="Picture 14" descr="desk-confetti-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234440"/>
            <a:ext cx="5303520" cy="2983230"/>
          </a:xfrm>
          <a:prstGeom prst="rect">
            <a:avLst/>
          </a:prstGeom>
        </p:spPr>
      </p:pic>
      <p:pic>
        <p:nvPicPr>
          <p:cNvPr id="16" name="Picture 15" descr="phone-inicio-marc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2834640"/>
            <a:ext cx="1797131" cy="374903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669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200">
                <a:solidFill>
                  <a:srgbClr val="FF9F0A"/>
                </a:solidFill>
                <a:latin typeface="Arial"/>
              </a:rPr>
              <a:t>CÓMO SE USA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7899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F5F5F7"/>
                </a:solidFill>
                <a:latin typeface="Arial"/>
              </a:rPr>
              <a:t>Tres pasos y estás al mando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57400"/>
            <a:ext cx="2331720" cy="3749039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331720"/>
            <a:ext cx="384048" cy="384048"/>
          </a:xfrm>
          <a:prstGeom prst="ellipse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98648"/>
            <a:ext cx="178307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5F5F7"/>
                </a:solidFill>
                <a:latin typeface="Arial"/>
              </a:rPr>
              <a:t>Diseña tu deck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11880"/>
            <a:ext cx="1783079" cy="20116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A1A1A6"/>
                </a:solidFill>
                <a:latin typeface="Arial"/>
              </a:rPr>
              <a:t>Elige la acción de cada botón, su ícono o emoji y su color en el editor de la extensión.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54680" y="2057400"/>
            <a:ext cx="2331720" cy="3749039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429000" y="2331720"/>
            <a:ext cx="384048" cy="384048"/>
          </a:xfrm>
          <a:prstGeom prst="ellipse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898648"/>
            <a:ext cx="178307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5F5F7"/>
                </a:solidFill>
                <a:latin typeface="Arial"/>
              </a:rPr>
              <a:t>Escanea el código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3611880"/>
            <a:ext cx="1783079" cy="20116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A1A1A6"/>
                </a:solidFill>
                <a:latin typeface="Arial"/>
              </a:rPr>
              <a:t>Haz clic en el ícono de Botonazo (Alt+Shift+D) y apunta la cámara del celular al QR.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0" y="2057400"/>
            <a:ext cx="2331720" cy="3749039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943600" y="2331720"/>
            <a:ext cx="384048" cy="384048"/>
          </a:xfrm>
          <a:prstGeom prst="ellipse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898648"/>
            <a:ext cx="178307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5F5F7"/>
                </a:solidFill>
                <a:latin typeface="Arial"/>
              </a:rPr>
              <a:t>¡Dale al botonazo!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3611880"/>
            <a:ext cx="1783079" cy="20116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A1A1A6"/>
                </a:solidFill>
                <a:latin typeface="Arial"/>
              </a:rPr>
              <a:t>Tu deck aparece en el celular y cada toque se ejecuta al instante en Chrome.</a:t>
            </a:r>
          </a:p>
        </p:txBody>
      </p:sp>
      <p:pic>
        <p:nvPicPr>
          <p:cNvPr id="17" name="Picture 16" descr="popup-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1143000"/>
            <a:ext cx="2435493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669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200">
                <a:solidFill>
                  <a:srgbClr val="FF9F0A"/>
                </a:solidFill>
                <a:latin typeface="Arial"/>
              </a:rPr>
              <a:t>EL EDITOR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4114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F5F5F7"/>
                </a:solidFill>
                <a:latin typeface="Arial"/>
              </a:rPr>
              <a:t>Diseña tu deck a tu medida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2231136"/>
            <a:ext cx="109728" cy="109728"/>
          </a:xfrm>
          <a:prstGeom prst="ellipse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5F5F7"/>
                </a:solidFill>
                <a:latin typeface="Arial"/>
              </a:rPr>
              <a:t>46 acciones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9572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1A1A6"/>
                </a:solidFill>
                <a:latin typeface="Arial"/>
              </a:rPr>
              <a:t>En 9 categorías, con sus opciones.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889504"/>
            <a:ext cx="109728" cy="109728"/>
          </a:xfrm>
          <a:prstGeom prst="ellipse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80720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5F5F7"/>
                </a:solidFill>
                <a:latin typeface="Arial"/>
              </a:rPr>
              <a:t>103 íconos o emojis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5409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1A1A6"/>
                </a:solidFill>
                <a:latin typeface="Arial"/>
              </a:rPr>
              <a:t>Y 12 colores para cada botón.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547872"/>
            <a:ext cx="109728" cy="109728"/>
          </a:xfrm>
          <a:prstGeom prst="ellipse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46557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5F5F7"/>
                </a:solidFill>
                <a:latin typeface="Arial"/>
              </a:rPr>
              <a:t>Páginas y columnas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12464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1A1A6"/>
                </a:solidFill>
                <a:latin typeface="Arial"/>
              </a:rPr>
              <a:t>Hasta 12 páginas de 40 botones.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206240"/>
            <a:ext cx="109728" cy="109728"/>
          </a:xfrm>
          <a:prstGeom prst="ellipse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123944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5F5F7"/>
                </a:solidFill>
                <a:latin typeface="Arial"/>
              </a:rPr>
              <a:t>Arrastrar y soltar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370831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1A1A6"/>
                </a:solidFill>
                <a:latin typeface="Arial"/>
              </a:rPr>
              <a:t>Ordena o mueve botones entre páginas.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864608"/>
            <a:ext cx="109728" cy="109728"/>
          </a:xfrm>
          <a:prstGeom prst="ellipse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78231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5F5F7"/>
                </a:solidFill>
                <a:latin typeface="Arial"/>
              </a:rPr>
              <a:t>Macros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02920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1A1A6"/>
                </a:solidFill>
                <a:latin typeface="Arial"/>
              </a:rPr>
              <a:t>Hasta 20 acciones con pausas.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5522975"/>
            <a:ext cx="109728" cy="109728"/>
          </a:xfrm>
          <a:prstGeom prst="ellipse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440679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5F5F7"/>
                </a:solidFill>
                <a:latin typeface="Arial"/>
              </a:rPr>
              <a:t>Importar y exportar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687567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1A1A6"/>
                </a:solidFill>
                <a:latin typeface="Arial"/>
              </a:rPr>
              <a:t>Comparte tu deck como JSON.</a:t>
            </a:r>
          </a:p>
        </p:txBody>
      </p:sp>
      <p:pic>
        <p:nvPicPr>
          <p:cNvPr id="23" name="Picture 22" descr="editor-dark-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914400"/>
            <a:ext cx="7406640" cy="549886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669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200">
                <a:solidFill>
                  <a:srgbClr val="FF9F0A"/>
                </a:solidFill>
                <a:latin typeface="Arial"/>
              </a:rPr>
              <a:t>CAPTURAS Y GRABACIÓN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5486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F5F5F7"/>
                </a:solidFill>
                <a:latin typeface="Arial"/>
              </a:rPr>
              <a:t>Tu pantalla, en la palma de tu mano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2231136"/>
            <a:ext cx="109728" cy="109728"/>
          </a:xfrm>
          <a:prstGeom prst="ellipse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5F5F7"/>
                </a:solidFill>
                <a:latin typeface="Arial"/>
              </a:rPr>
              <a:t>Captura de pantalla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95728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1A1A6"/>
                </a:solidFill>
                <a:latin typeface="Arial"/>
              </a:rPr>
              <a:t>A Descargas › Botonazo y al celular, lista para guardar o compartir.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008376"/>
            <a:ext cx="109728" cy="109728"/>
          </a:xfrm>
          <a:prstGeom prst="ellipse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926080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5F5F7"/>
                </a:solidFill>
                <a:latin typeface="Arial"/>
              </a:rPr>
              <a:t>Grabar la pestaña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72968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1A1A6"/>
                </a:solidFill>
                <a:latin typeface="Arial"/>
              </a:rPr>
              <a:t>Video MP4 con sonido; el botón muestra el cronómetro.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785615"/>
            <a:ext cx="109728" cy="109728"/>
          </a:xfrm>
          <a:prstGeom prst="ellipse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703320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5F5F7"/>
                </a:solidFill>
                <a:latin typeface="Arial"/>
              </a:rPr>
              <a:t>Grabar la pantalla o una ventana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950208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1A1A6"/>
                </a:solidFill>
                <a:latin typeface="Arial"/>
              </a:rPr>
              <a:t>Desde el estudio, con el selector de Chrome.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562856"/>
            <a:ext cx="109728" cy="109728"/>
          </a:xfrm>
          <a:prstGeom prst="ellipse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480560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5F5F7"/>
                </a:solidFill>
                <a:latin typeface="Arial"/>
              </a:rPr>
              <a:t>Pantalla en vivo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727448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1A1A6"/>
                </a:solidFill>
                <a:latin typeface="Arial"/>
              </a:rPr>
              <a:t>Mira la pestaña en tu celular con video en tiempo real.</a:t>
            </a:r>
          </a:p>
        </p:txBody>
      </p:sp>
      <p:pic>
        <p:nvPicPr>
          <p:cNvPr id="17" name="Picture 16" descr="phone-viewer-mar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548640"/>
            <a:ext cx="2761446" cy="5760720"/>
          </a:xfrm>
          <a:prstGeom prst="rect">
            <a:avLst/>
          </a:prstGeom>
        </p:spPr>
      </p:pic>
      <p:pic>
        <p:nvPicPr>
          <p:cNvPr id="18" name="Picture 17" descr="phone-shot-marc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6840" y="548640"/>
            <a:ext cx="2761446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669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200">
                <a:solidFill>
                  <a:srgbClr val="FF9F0A"/>
                </a:solidFill>
                <a:latin typeface="Arial"/>
              </a:rPr>
              <a:t>TRANSMISIONES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58521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F5F5F7"/>
                </a:solidFill>
                <a:latin typeface="Arial"/>
              </a:rPr>
              <a:t>Transmite y graba con OBS Studio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2231136"/>
            <a:ext cx="109728" cy="109728"/>
          </a:xfrm>
          <a:prstGeom prst="ellipse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5F5F7"/>
                </a:solidFill>
                <a:latin typeface="Arial"/>
              </a:rPr>
              <a:t>En vivo y grabación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95728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1A1A6"/>
                </a:solidFill>
                <a:latin typeface="Arial"/>
              </a:rPr>
              <a:t>Inicia, detén y pausa; con cronómetro en el botón.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962656"/>
            <a:ext cx="109728" cy="109728"/>
          </a:xfrm>
          <a:prstGeom prst="ellipse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88036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5F5F7"/>
                </a:solidFill>
                <a:latin typeface="Arial"/>
              </a:rPr>
              <a:t>Escenas y fuentes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27248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1A1A6"/>
                </a:solidFill>
                <a:latin typeface="Arial"/>
              </a:rPr>
              <a:t>Cambia de escena y muestra u oculta la cámara.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694176"/>
            <a:ext cx="109728" cy="109728"/>
          </a:xfrm>
          <a:prstGeom prst="ellipse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61188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5F5F7"/>
                </a:solidFill>
                <a:latin typeface="Arial"/>
              </a:rPr>
              <a:t>Audio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58768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1A1A6"/>
                </a:solidFill>
                <a:latin typeface="Arial"/>
              </a:rPr>
              <a:t>Silencia el micrófono o cualquier fuente.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425696"/>
            <a:ext cx="109728" cy="109728"/>
          </a:xfrm>
          <a:prstGeom prst="ellipse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34340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5F5F7"/>
                </a:solidFill>
                <a:latin typeface="Arial"/>
              </a:rPr>
              <a:t>Repetición y cámara virtual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590288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1A1A6"/>
                </a:solidFill>
                <a:latin typeface="Arial"/>
              </a:rPr>
              <a:t>Guarda el último momento o activa la cámara virtual.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5157216"/>
            <a:ext cx="109728" cy="109728"/>
          </a:xfrm>
          <a:prstGeom prst="ellipse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7492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5F5F7"/>
                </a:solidFill>
                <a:latin typeface="Arial"/>
              </a:rPr>
              <a:t>Estado real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321808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1A1A6"/>
                </a:solidFill>
                <a:latin typeface="Arial"/>
              </a:rPr>
              <a:t>Los botones se iluminan según lo que pasa en OBS.</a:t>
            </a:r>
          </a:p>
        </p:txBody>
      </p:sp>
      <p:pic>
        <p:nvPicPr>
          <p:cNvPr id="20" name="Picture 19" descr="phone-obs-mar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548640"/>
            <a:ext cx="2761446" cy="5760720"/>
          </a:xfrm>
          <a:prstGeom prst="rect">
            <a:avLst/>
          </a:prstGeom>
        </p:spPr>
      </p:pic>
      <p:pic>
        <p:nvPicPr>
          <p:cNvPr id="21" name="Picture 20" descr="desk-lower-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0" y="2011680"/>
            <a:ext cx="3246120" cy="182594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595360" y="3931920"/>
            <a:ext cx="32461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A1A1A6"/>
                </a:solidFill>
                <a:latin typeface="Arial"/>
              </a:rPr>
              <a:t>Los carteles se dibujan sobre la página y salen en la transmisión.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669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200">
                <a:solidFill>
                  <a:srgbClr val="FF9F0A"/>
                </a:solidFill>
                <a:latin typeface="Arial"/>
              </a:rPr>
              <a:t>NAVEGADOR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58521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F5F5F7"/>
                </a:solidFill>
                <a:latin typeface="Arial"/>
              </a:rPr>
              <a:t>Pestañas, ventanas y multimedia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2231136"/>
            <a:ext cx="109728" cy="109728"/>
          </a:xfrm>
          <a:prstGeom prst="ellipse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5F5F7"/>
                </a:solidFill>
                <a:latin typeface="Arial"/>
              </a:rPr>
              <a:t>Lista de pestañas en el celular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95728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1A1A6"/>
                </a:solidFill>
                <a:latin typeface="Arial"/>
              </a:rPr>
              <a:t>Salta a cualquiera o ciérrala con un toque.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962656"/>
            <a:ext cx="109728" cy="109728"/>
          </a:xfrm>
          <a:prstGeom prst="ellipse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88036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5F5F7"/>
                </a:solidFill>
                <a:latin typeface="Arial"/>
              </a:rPr>
              <a:t>Siguiente, anterior y la que suena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27248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1A1A6"/>
                </a:solidFill>
                <a:latin typeface="Arial"/>
              </a:rPr>
              <a:t>Navega sin mirar la computadora.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694176"/>
            <a:ext cx="109728" cy="109728"/>
          </a:xfrm>
          <a:prstGeom prst="ellipse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6118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5F5F7"/>
                </a:solidFill>
                <a:latin typeface="Arial"/>
              </a:rPr>
              <a:t>Ventanas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58768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1A1A6"/>
                </a:solidFill>
                <a:latin typeface="Arial"/>
              </a:rPr>
              <a:t>Cambia de ventana, abre una nueva, pantalla completa o minimiza.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425696"/>
            <a:ext cx="109728" cy="109728"/>
          </a:xfrm>
          <a:prstGeom prst="ellipse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34340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5F5F7"/>
                </a:solidFill>
                <a:latin typeface="Arial"/>
              </a:rPr>
              <a:t>Multimedia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590288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1A1A6"/>
                </a:solidFill>
                <a:latin typeface="Arial"/>
              </a:rPr>
              <a:t>Play, pausa, ±10 s, volumen, silencio y velocidad.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5157216"/>
            <a:ext cx="109728" cy="109728"/>
          </a:xfrm>
          <a:prstGeom prst="ellipse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749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5F5F7"/>
                </a:solidFill>
                <a:latin typeface="Arial"/>
              </a:rPr>
              <a:t>Página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321808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1A1A6"/>
                </a:solidFill>
                <a:latin typeface="Arial"/>
              </a:rPr>
              <a:t>Zoom, desplazar, atrás y adelante.</a:t>
            </a:r>
          </a:p>
        </p:txBody>
      </p:sp>
      <p:pic>
        <p:nvPicPr>
          <p:cNvPr id="20" name="Picture 19" descr="phone-tabs-mar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548640"/>
            <a:ext cx="2761446" cy="5760720"/>
          </a:xfrm>
          <a:prstGeom prst="rect">
            <a:avLst/>
          </a:prstGeom>
        </p:spPr>
      </p:pic>
      <p:pic>
        <p:nvPicPr>
          <p:cNvPr id="21" name="Picture 20" descr="phone-atajos-marc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6840" y="548640"/>
            <a:ext cx="2761446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669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200">
                <a:solidFill>
                  <a:srgbClr val="FF9F0A"/>
                </a:solidFill>
                <a:latin typeface="Arial"/>
              </a:rPr>
              <a:t>MENSAJES EN PANTALLA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7899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F5F5F7"/>
                </a:solidFill>
                <a:latin typeface="Arial"/>
              </a:rPr>
              <a:t>Habla con tu audiencia sin decir nada</a:t>
            </a:r>
          </a:p>
        </p:txBody>
      </p:sp>
      <p:pic>
        <p:nvPicPr>
          <p:cNvPr id="5" name="Picture 4" descr="desk-message-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83080"/>
            <a:ext cx="3657600" cy="2057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480560" y="2560320"/>
            <a:ext cx="1600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5F5F7"/>
                </a:solidFill>
                <a:latin typeface="Arial"/>
              </a:rPr>
              <a:t>Cartel a pantalla completa</a:t>
            </a:r>
          </a:p>
        </p:txBody>
      </p:sp>
      <p:pic>
        <p:nvPicPr>
          <p:cNvPr id="7" name="Picture 6" descr="desk-lower-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783080"/>
            <a:ext cx="3657600" cy="2057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012680" y="2560320"/>
            <a:ext cx="1600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5F5F7"/>
                </a:solidFill>
                <a:latin typeface="Arial"/>
              </a:rPr>
              <a:t>Barra inferior</a:t>
            </a:r>
          </a:p>
        </p:txBody>
      </p:sp>
      <p:pic>
        <p:nvPicPr>
          <p:cNvPr id="9" name="Picture 8" descr="desk-toast-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251960"/>
            <a:ext cx="3657600" cy="2057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480560" y="5029200"/>
            <a:ext cx="1600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5F5F7"/>
                </a:solidFill>
                <a:latin typeface="Arial"/>
              </a:rPr>
              <a:t>Aviso rápido</a:t>
            </a:r>
          </a:p>
        </p:txBody>
      </p:sp>
      <p:pic>
        <p:nvPicPr>
          <p:cNvPr id="11" name="Picture 10" descr="desk-confetti-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4251960"/>
            <a:ext cx="3657600" cy="2057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012680" y="5029200"/>
            <a:ext cx="1600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5F5F7"/>
                </a:solidFill>
                <a:latin typeface="Arial"/>
              </a:rPr>
              <a:t>Lluvia de confeti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669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200">
                <a:solidFill>
                  <a:srgbClr val="FF9F0A"/>
                </a:solidFill>
                <a:latin typeface="Arial"/>
              </a:rPr>
              <a:t>AUTOMATIZACIÓN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7899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F5F5F7"/>
                </a:solidFill>
                <a:latin typeface="Arial"/>
              </a:rPr>
              <a:t>Miles de funciones, las que tú quieras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5349240" cy="192024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4800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5F5F7"/>
                </a:solidFill>
                <a:latin typeface="Arial"/>
              </a:rPr>
              <a:t>Atajos de teclado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24912"/>
            <a:ext cx="480060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A1A1A6"/>
                </a:solidFill>
                <a:latin typeface="Arial"/>
              </a:rPr>
              <a:t>Graba cualquier combinación y envíala a la página: YouTube, Meet, Slides, editores web…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2011680"/>
            <a:ext cx="5349240" cy="192024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286000"/>
            <a:ext cx="4800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5F5F7"/>
                </a:solidFill>
                <a:latin typeface="Arial"/>
              </a:rPr>
              <a:t>Textos y portapapeles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724912"/>
            <a:ext cx="480060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A1A1A6"/>
                </a:solidFill>
                <a:latin typeface="Arial"/>
              </a:rPr>
              <a:t>Escribe saludos o respuestas predefinidas, o copia enlaces al portapapeles.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160520"/>
            <a:ext cx="5349240" cy="192024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434840"/>
            <a:ext cx="4800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5F5F7"/>
                </a:solidFill>
                <a:latin typeface="Arial"/>
              </a:rPr>
              <a:t>Webhooks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873752"/>
            <a:ext cx="480060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A1A1A6"/>
                </a:solidFill>
                <a:latin typeface="Arial"/>
              </a:rPr>
              <a:t>Conecta Streamer.bot, Home Assistant, Zapier, IFTTT o Discord con una petición HTTP.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4160520"/>
            <a:ext cx="5349240" cy="192024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4434840"/>
            <a:ext cx="4800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5F5F7"/>
                </a:solidFill>
                <a:latin typeface="Arial"/>
              </a:rPr>
              <a:t>Macros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4873752"/>
            <a:ext cx="480060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A1A1A6"/>
                </a:solidFill>
                <a:latin typeface="Arial"/>
              </a:rPr>
              <a:t>Encadena acciones: pantalla completa + reproducir, escena + mensaje, y lo que imagines.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669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200">
                <a:solidFill>
                  <a:srgbClr val="FF9F0A"/>
                </a:solidFill>
                <a:latin typeface="Arial"/>
              </a:rPr>
              <a:t>CÓMO FUNCIONA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7899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F5F5F7"/>
                </a:solidFill>
                <a:latin typeface="Arial"/>
              </a:rPr>
              <a:t>Una conexión directa y cifrada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77440"/>
            <a:ext cx="3108960" cy="192024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5F5F7"/>
                </a:solidFill>
                <a:latin typeface="Arial"/>
              </a:rPr>
              <a:t>Celular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90672"/>
            <a:ext cx="256032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A1A1A6"/>
                </a:solidFill>
                <a:latin typeface="Arial"/>
              </a:rPr>
              <a:t>Deck web en el navegador. Solo envía el id del botón pulsado.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2377440"/>
            <a:ext cx="3108960" cy="192024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0600" y="265176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5F5F7"/>
                </a:solidFill>
                <a:latin typeface="Arial"/>
              </a:rPr>
              <a:t>Computadora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3090672"/>
            <a:ext cx="256032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A1A1A6"/>
                </a:solidFill>
                <a:latin typeface="Arial"/>
              </a:rPr>
              <a:t>Chrome con Botonazo: resuelve el botón y ejecuta la acción.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2377440"/>
            <a:ext cx="3108960" cy="192024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0" y="265176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5F5F7"/>
                </a:solidFill>
                <a:latin typeface="Arial"/>
              </a:rPr>
              <a:t>OBS Studio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3090672"/>
            <a:ext cx="256032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A1A1A6"/>
                </a:solidFill>
                <a:latin typeface="Arial"/>
              </a:rPr>
              <a:t>WebSocket local para escenas, transmisión y grabación.</a:t>
            </a:r>
          </a:p>
        </p:txBody>
      </p:sp>
      <p:sp>
        <p:nvSpPr>
          <p:cNvPr id="14" name="Left-Right Arrow 13"/>
          <p:cNvSpPr/>
          <p:nvPr/>
        </p:nvSpPr>
        <p:spPr>
          <a:xfrm>
            <a:off x="3794760" y="3108960"/>
            <a:ext cx="685800" cy="411480"/>
          </a:xfrm>
          <a:prstGeom prst="leftRightArrow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Left-Right Arrow 14"/>
          <p:cNvSpPr/>
          <p:nvPr/>
        </p:nvSpPr>
        <p:spPr>
          <a:xfrm>
            <a:off x="7680960" y="3108960"/>
            <a:ext cx="685800" cy="411480"/>
          </a:xfrm>
          <a:prstGeom prst="leftRightArrow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61772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A1A1A6"/>
                </a:solidFill>
                <a:latin typeface="Arial"/>
              </a:rPr>
              <a:t>WebRTC cifrado de punto a punto · señalización PeerJS solo para el enlace inicial · retransmisión de Cloudflare si la red lo bloquea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26080" y="5074920"/>
            <a:ext cx="6309360" cy="1371600"/>
          </a:xfrm>
          <a:prstGeom prst="roundRect">
            <a:avLst>
              <a:gd name="adj" fmla="val 8000"/>
            </a:avLst>
          </a:prstGeom>
          <a:solidFill>
            <a:srgbClr val="22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0" y="5349240"/>
            <a:ext cx="5760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5F5F7"/>
                </a:solidFill>
                <a:latin typeface="Arial"/>
              </a:rPr>
              <a:t>Seguro por diseño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5788151"/>
            <a:ext cx="57607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A1A1A6"/>
                </a:solidFill>
                <a:latin typeface="Arial"/>
              </a:rPr>
              <a:t>Las direcciones, textos y contraseñas de tus botones nunca salen de la computadora.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669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200">
                <a:solidFill>
                  <a:srgbClr val="FF9F0A"/>
                </a:solidFill>
                <a:latin typeface="Arial"/>
              </a:rPr>
              <a:t>PRIVACIDAD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7899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F5F5F7"/>
                </a:solidFill>
                <a:latin typeface="Arial"/>
              </a:rPr>
              <a:t>Tus datos se quedan contigo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57400"/>
            <a:ext cx="2587752" cy="329184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331720"/>
            <a:ext cx="384048" cy="384048"/>
          </a:xfrm>
          <a:prstGeom prst="ellipse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98648"/>
            <a:ext cx="203911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5F5F7"/>
                </a:solidFill>
                <a:latin typeface="Arial"/>
              </a:rPr>
              <a:t>Sin cuentas ni analítica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11880"/>
            <a:ext cx="2039112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A1A1A6"/>
                </a:solidFill>
                <a:latin typeface="Arial"/>
              </a:rPr>
              <a:t>Botonazo no recopila datos personales, no muestra anuncios y no usa cookies.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10711" y="2057400"/>
            <a:ext cx="2587752" cy="329184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685031" y="2331720"/>
            <a:ext cx="384048" cy="384048"/>
          </a:xfrm>
          <a:prstGeom prst="ellipse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5031" y="2898648"/>
            <a:ext cx="203911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5F5F7"/>
                </a:solidFill>
                <a:latin typeface="Arial"/>
              </a:rPr>
              <a:t>Código QR con clave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85031" y="3611880"/>
            <a:ext cx="2039112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A1A1A6"/>
                </a:solidFill>
                <a:latin typeface="Arial"/>
              </a:rPr>
              <a:t>La clave viaja en el fragmento # y se renueva en cada sesión.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2057400"/>
            <a:ext cx="2587752" cy="329184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55664" y="2331720"/>
            <a:ext cx="384048" cy="384048"/>
          </a:xfrm>
          <a:prstGeom prst="ellipse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5664" y="2898648"/>
            <a:ext cx="203911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5F5F7"/>
                </a:solidFill>
                <a:latin typeface="Arial"/>
              </a:rPr>
              <a:t>Archivos en tus equipos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3611880"/>
            <a:ext cx="2039112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A1A1A6"/>
                </a:solidFill>
                <a:latin typeface="Arial"/>
              </a:rPr>
              <a:t>Capturas y videos se guardan en tu computadora o tu celular, nunca en un servidor.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51976" y="2057400"/>
            <a:ext cx="2587752" cy="329184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226296" y="2331720"/>
            <a:ext cx="384048" cy="384048"/>
          </a:xfrm>
          <a:prstGeom prst="ellipse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26296" y="2898648"/>
            <a:ext cx="203911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5F5F7"/>
                </a:solidFill>
                <a:latin typeface="Arial"/>
              </a:rPr>
              <a:t>Permisos a pedido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26296" y="3611880"/>
            <a:ext cx="2039112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A1A1A6"/>
                </a:solidFill>
                <a:latin typeface="Arial"/>
              </a:rPr>
              <a:t>Los scripts entran a la página solo cuando pulsas un botón que los necesita.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669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200">
                <a:solidFill>
                  <a:srgbClr val="FF9F0A"/>
                </a:solidFill>
                <a:latin typeface="Arial"/>
              </a:rPr>
              <a:t>ESTADO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7899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F5F5F7"/>
                </a:solidFill>
                <a:latin typeface="Arial"/>
              </a:rPr>
              <a:t>Listo para la Chrome Web Store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57400"/>
            <a:ext cx="3520440" cy="237744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331720"/>
            <a:ext cx="384048" cy="384048"/>
          </a:xfrm>
          <a:prstGeom prst="ellipse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98648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5F5F7"/>
                </a:solidFill>
                <a:latin typeface="Arial"/>
              </a:rPr>
              <a:t>63 comprobaciones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37560"/>
            <a:ext cx="2971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A1A1A6"/>
                </a:solidFill>
                <a:latin typeface="Arial"/>
              </a:rPr>
              <a:t>Prueba de punta a punta con la extensión, el celular, OBS simulado, grabación y video en vivo reales.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057400"/>
            <a:ext cx="3520440" cy="237744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617720" y="2331720"/>
            <a:ext cx="384048" cy="384048"/>
          </a:xfrm>
          <a:prstGeom prst="ellipse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898648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5F5F7"/>
                </a:solidFill>
                <a:latin typeface="Arial"/>
              </a:rPr>
              <a:t>Paquete listo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3337560"/>
            <a:ext cx="2971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A1A1A6"/>
                </a:solidFill>
                <a:latin typeface="Arial"/>
              </a:rPr>
              <a:t>dist/botonazo-1.0.0.zip validado: manifiesto, íconos, idioma y scripts.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9" y="2057400"/>
            <a:ext cx="3520440" cy="237744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321040" y="2331720"/>
            <a:ext cx="384048" cy="384048"/>
          </a:xfrm>
          <a:prstGeom prst="ellipse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898648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5F5F7"/>
                </a:solidFill>
                <a:latin typeface="Arial"/>
              </a:rPr>
              <a:t>Ficha completa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337560"/>
            <a:ext cx="2971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A1A1A6"/>
                </a:solidFill>
                <a:latin typeface="Arial"/>
              </a:rPr>
              <a:t>Textos, 5 capturas, mosaicos, privacidad y justificación de permisos.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92040"/>
            <a:ext cx="10881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A1A1A6"/>
                </a:solidFill>
                <a:latin typeface="Arial"/>
              </a:rPr>
              <a:t>Siguiente paso: publicar el repositorio con GitHub Pages (mjmc4498.github.io/botonazo) y subir el ZIP en el panel del desarrollador.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ogo-5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54480"/>
            <a:ext cx="1143000" cy="1143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2880360"/>
            <a:ext cx="73152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600" b="1">
                <a:solidFill>
                  <a:srgbClr val="F5F5F7"/>
                </a:solidFill>
                <a:latin typeface="Arial"/>
              </a:rPr>
              <a:t>¡Dale al botonazo!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931920"/>
            <a:ext cx="67665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A1A1A6"/>
                </a:solidFill>
                <a:latin typeface="Arial"/>
              </a:rPr>
              <a:t>Diseña tu deck, escanea el QR y controla Chrome desde tu celular.</a:t>
            </a:r>
          </a:p>
          <a:p>
            <a:pPr algn="l">
              <a:lnSpc>
                <a:spcPct val="125000"/>
              </a:lnSpc>
              <a:spcBef>
                <a:spcPts val="1000"/>
              </a:spcBef>
            </a:pPr>
            <a:r>
              <a:rPr sz="2000" b="0">
                <a:solidFill>
                  <a:srgbClr val="A1A1A6"/>
                </a:solidFill>
                <a:latin typeface="Arial"/>
              </a:rPr>
              <a:t>mjmc4498.github.io/botonazo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893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A1A1A6"/>
                </a:solidFill>
                <a:latin typeface="Arial"/>
              </a:rPr>
              <a:t>Creado por Miguel Mogrovejo</a:t>
            </a:r>
          </a:p>
        </p:txBody>
      </p:sp>
      <p:pic>
        <p:nvPicPr>
          <p:cNvPr id="7" name="Picture 6" descr="phone-obs-marc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0" y="502920"/>
            <a:ext cx="2805279" cy="58521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